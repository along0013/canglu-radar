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0" Type="http://schemas.openxmlformats.org/officeDocument/2006/relationships/notesSlide" Target="../notesSlides/notesSlide7.xml"/><Relationship Id="rId3" Type="http://schemas.openxmlformats.org/officeDocument/2006/relationships/tags" Target="../tags/tag3.xml"/><Relationship Id="rId29" Type="http://schemas.openxmlformats.org/officeDocument/2006/relationships/slideLayout" Target="../slideLayouts/slideLayout1.xml"/><Relationship Id="rId28" Type="http://schemas.openxmlformats.org/officeDocument/2006/relationships/image" Target="../media/image1.png"/><Relationship Id="rId27" Type="http://schemas.openxmlformats.org/officeDocument/2006/relationships/tags" Target="../tags/tag25.xml"/><Relationship Id="rId26" Type="http://schemas.microsoft.com/office/2007/relationships/media" Target="../media/media1.mp4"/><Relationship Id="rId25" Type="http://schemas.openxmlformats.org/officeDocument/2006/relationships/video" Target="../media/media1.mp4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3017520"/>
            <a:ext cx="9418320" cy="18288"/>
          </a:xfrm>
          <a:prstGeom prst="rect">
            <a:avLst/>
          </a:prstGeom>
          <a:solidFill>
            <a:srgbClr val="F9C74F"/>
          </a:solidFill>
        </p:spPr>
      </p:sp>
      <p:sp>
        <p:nvSpPr>
          <p:cNvPr id="3" name="Text 1"/>
          <p:cNvSpPr/>
          <p:nvPr/>
        </p:nvSpPr>
        <p:spPr>
          <a:xfrm>
            <a:off x="1371600" y="1463040"/>
            <a:ext cx="94183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9C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🚢 舱路雷达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跨境物流异常预警与发货决策情报系统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4389120"/>
            <a:ext cx="9418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主讲人：袁愉隆  |  个人参赛  |  商汤小浣熊 OPC 赛道二  |  SynNovator HackForger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数据截止 2026-06-26  |  30 周 SCFI · 7 大权威指数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259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①② 场景洞察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658368"/>
            <a:ext cx="457200" cy="27432"/>
          </a:xfrm>
          <a:prstGeom prst="rect">
            <a:avLst/>
          </a:prstGeom>
          <a:solidFill>
            <a:srgbClr val="F9C74F"/>
          </a:solidFill>
        </p:spPr>
      </p:sp>
      <p:sp>
        <p:nvSpPr>
          <p:cNvPr id="4" name="Text 2"/>
          <p:cNvSpPr/>
          <p:nvPr/>
        </p:nvSpPr>
        <p:spPr>
          <a:xfrm>
            <a:off x="731520" y="777240"/>
            <a:ext cx="10058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C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一个物流专员的周一早晨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中国跨境电商年出口超 2 万亿，物流成本占 15-30%。运价一周一变，决策全靠人。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029200" cy="3657600"/>
          </a:xfrm>
          <a:prstGeom prst="roundRect">
            <a:avLst>
              <a:gd name="adj" fmla="val 2500"/>
            </a:avLst>
          </a:prstGeom>
          <a:solidFill>
            <a:srgbClr val="1A0E0E"/>
          </a:solidFill>
          <a:ln w="6350">
            <a:solidFill>
              <a:srgbClr val="FF4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4663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❌ 传统流程：75-105 分钟/周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377440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打开 5 个网站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578608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SCFI / 船公司公告 / 汇率 / 油价 / 新闻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63440" y="2423160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4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15-20 min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3154680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手动计算 Excel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355848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4航线运价 x 汇率 / 附加费叠加 / 公式易错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3200400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4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20-30 min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3931920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凭经验判断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133088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上次涨了这周应该还涨 / 无量化 / 拍脑袋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3440" y="3977640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4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10-15 min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4709160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写周报 邮件汇报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4910328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复制粘贴到Excel / 格式不一致 / 不可复现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4754880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4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30-40 min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1828800"/>
            <a:ext cx="5029200" cy="3657600"/>
          </a:xfrm>
          <a:prstGeom prst="roundRect">
            <a:avLst>
              <a:gd name="adj" fmla="val 2500"/>
            </a:avLst>
          </a:prstGeom>
          <a:solidFill>
            <a:srgbClr val="0E1A0E"/>
          </a:solidFill>
          <a:ln w="6350">
            <a:solidFill>
              <a:srgbClr val="2ED5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1965960"/>
            <a:ext cx="4663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D5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✅ 舱路雷达：10-20 分钟/周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2377440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替换 CSV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29400" y="2578608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每周下载最新 SCFI，覆盖 shared/ 目录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332720" y="2423160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D5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 秒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29400" y="3154680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运行 compute.py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29400" y="3355848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自动算 Z分数 P95 环比 连涨 成本 决策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332720" y="3200400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D5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秒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29400" y="3931920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打开 Dashboard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29400" y="4133088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预警 建议 验证 一屏呈现 截屏即周报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332720" y="3977640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D5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即看即用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29400" y="4709160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替换文件 复跑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29400" y="4910328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每周换数据即可 无需重做 团队可共享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332720" y="4754880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D5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可持续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" y="566928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0E1528"/>
          </a:solidFill>
        </p:spPr>
      </p:sp>
      <p:sp>
        <p:nvSpPr>
          <p:cNvPr id="35" name="Text 33"/>
          <p:cNvSpPr/>
          <p:nvPr/>
        </p:nvSpPr>
        <p:spPr>
          <a:xfrm>
            <a:off x="731520" y="5715000"/>
            <a:ext cx="10698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9C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3-4 小时/周  →  10-20 分钟/周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731520" y="6172200"/>
            <a:ext cx="10698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效率提升 12-18 倍，从凭感觉到看数据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259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①③ 技术方案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658368"/>
            <a:ext cx="457200" cy="27432"/>
          </a:xfrm>
          <a:prstGeom prst="rect">
            <a:avLst/>
          </a:prstGeom>
          <a:solidFill>
            <a:srgbClr val="F9C74F"/>
          </a:solidFill>
        </p:spPr>
      </p:sp>
      <p:sp>
        <p:nvSpPr>
          <p:cNvPr id="4" name="Text 2"/>
          <p:cNvSpPr/>
          <p:nvPr/>
        </p:nvSpPr>
        <p:spPr>
          <a:xfrm>
            <a:off x="731520" y="777240"/>
            <a:ext cx="10058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C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四大痛点 → 四条自动化管线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8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💡 全部数据分析与算法由 🦝 小浣熊完成；智能体软件负责热点抓取、界面展示和流程衔接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121A2E"/>
          </a:solidFill>
          <a:ln w="6350">
            <a:solidFill>
              <a:srgbClr val="5259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874520"/>
            <a:ext cx="365760" cy="22860"/>
          </a:xfrm>
          <a:prstGeom prst="rect">
            <a:avLst/>
          </a:prstGeom>
          <a:solidFill>
            <a:srgbClr val="F9C74F"/>
          </a:solidFill>
        </p:spPr>
      </p:sp>
      <p:sp>
        <p:nvSpPr>
          <p:cNvPr id="8" name="Text 6"/>
          <p:cNvSpPr/>
          <p:nvPr/>
        </p:nvSpPr>
        <p:spPr>
          <a:xfrm>
            <a:off x="914400" y="196596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C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💰 会不会涨价？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4846320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过去：手算4航线+查历史，凭感觉判断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🦝 小浣熊：三维量化预警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Z分数(统计显著) + P95(历史极值) + 连涨检测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红黄绿三级预警 · Z≥2自动触发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欧洲 Z=2.80 ⚠️  |  美东 Z=2.65 较优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0" y="178308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121A2E"/>
          </a:solidFill>
          <a:ln w="6350">
            <a:solidFill>
              <a:srgbClr val="5259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874520"/>
            <a:ext cx="365760" cy="22860"/>
          </a:xfrm>
          <a:prstGeom prst="rect">
            <a:avLst/>
          </a:prstGeom>
          <a:solidFill>
            <a:srgbClr val="2ED573"/>
          </a:solidFill>
        </p:spPr>
      </p:sp>
      <p:sp>
        <p:nvSpPr>
          <p:cNvPr id="12" name="Text 10"/>
          <p:cNvSpPr/>
          <p:nvPr/>
        </p:nvSpPr>
        <p:spPr>
          <a:xfrm>
            <a:off x="6583680" y="196596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D5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🎯 该不该发货？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4846320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过去：拍脑袋，上周涨了这周应该还涨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🦝 小浣熊：按航线决策建议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5航线差异化建议 · 置信度标签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美东性价比最优 · 报价加10%缓冲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欧洲高危 · 非紧急观望1-2周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425196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121A2E"/>
          </a:solidFill>
          <a:ln w="6350">
            <a:solidFill>
              <a:srgbClr val="5259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343400"/>
            <a:ext cx="365760" cy="22860"/>
          </a:xfrm>
          <a:prstGeom prst="rect">
            <a:avLst/>
          </a:prstGeom>
          <a:solidFill>
            <a:srgbClr val="E6A817"/>
          </a:solidFill>
        </p:spPr>
      </p:sp>
      <p:sp>
        <p:nvSpPr>
          <p:cNvPr id="16" name="Text 14"/>
          <p:cNvSpPr/>
          <p:nvPr/>
        </p:nvSpPr>
        <p:spPr>
          <a:xfrm>
            <a:off x="914400" y="443484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A81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📰 局势怎么变？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754880"/>
            <a:ext cx="4846320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过去：手动刷5个网站，看新闻自己判断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智能体抓取 + 🦝 分析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实时抓取航运热点(运价/地缘/政策/运力)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自动分类 → 关联航线 → 辅助判断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巴拿马通行量上调→利好美东 / 马士基GRI→欧线看涨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425196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121A2E"/>
          </a:solidFill>
          <a:ln w="6350">
            <a:solidFill>
              <a:srgbClr val="5259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4343400"/>
            <a:ext cx="365760" cy="2286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20" name="Text 18"/>
          <p:cNvSpPr/>
          <p:nvPr/>
        </p:nvSpPr>
        <p:spPr>
          <a:xfrm>
            <a:off x="6583680" y="443484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🔄 有替代方案吗？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4754880"/>
            <a:ext cx="4846320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过去：只知道一条常走的路，不知其他选择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🦝 小浣熊：5种成本场景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基础/压力/巴拿马三场景 · USD+CNY双币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美东基础 $8,221 → 巴拿马极端 $9,771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美西+铁路比纯美东省 $1,200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259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①④ 技术方案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658368"/>
            <a:ext cx="457200" cy="27432"/>
          </a:xfrm>
          <a:prstGeom prst="rect">
            <a:avLst/>
          </a:prstGeom>
          <a:solidFill>
            <a:srgbClr val="F9C74F"/>
          </a:solidFill>
        </p:spPr>
      </p:sp>
      <p:sp>
        <p:nvSpPr>
          <p:cNvPr id="4" name="Text 2"/>
          <p:cNvSpPr/>
          <p:nvPr/>
        </p:nvSpPr>
        <p:spPr>
          <a:xfrm>
            <a:off x="731520" y="777240"/>
            <a:ext cx="10058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C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每一个算法，回答一个业务问题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2606040" cy="4572000"/>
          </a:xfrm>
          <a:prstGeom prst="roundRect">
            <a:avLst>
              <a:gd name="adj" fmla="val 2807"/>
            </a:avLst>
          </a:prstGeom>
          <a:solidFill>
            <a:srgbClr val="121A2E"/>
          </a:solidFill>
          <a:ln w="6350">
            <a:solidFill>
              <a:srgbClr val="5259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64208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F9C74F"/>
          </a:solidFill>
        </p:spPr>
      </p:sp>
      <p:sp>
        <p:nvSpPr>
          <p:cNvPr id="7" name="Text 5"/>
          <p:cNvSpPr/>
          <p:nvPr/>
        </p:nvSpPr>
        <p:spPr>
          <a:xfrm>
            <a:off x="868680" y="1664208"/>
            <a:ext cx="1005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0D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✅ 已解决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193852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运价到底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贵不贵？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514600"/>
            <a:ext cx="365760" cy="22860"/>
          </a:xfrm>
          <a:prstGeom prst="rect">
            <a:avLst/>
          </a:prstGeom>
          <a:solidFill>
            <a:srgbClr val="F9C74F"/>
          </a:solidFill>
        </p:spPr>
      </p:sp>
      <p:sp>
        <p:nvSpPr>
          <p:cNvPr id="10" name="Text 8"/>
          <p:cNvSpPr/>
          <p:nvPr/>
        </p:nvSpPr>
        <p:spPr>
          <a:xfrm>
            <a:off x="868680" y="2651760"/>
            <a:ext cx="233172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 分数模型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Z=(现值-均值)/σ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30周滚动基线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产出：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Z≥2→黄色预警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Z≥3→红色高危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欧洲 2.80 ⚠️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美东 2.65 较优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💡 量化贵的定义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不再凭感觉判断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66160" y="1554480"/>
            <a:ext cx="2606040" cy="4572000"/>
          </a:xfrm>
          <a:prstGeom prst="roundRect">
            <a:avLst>
              <a:gd name="adj" fmla="val 2807"/>
            </a:avLst>
          </a:prstGeom>
          <a:solidFill>
            <a:srgbClr val="121A2E"/>
          </a:solidFill>
          <a:ln w="6350">
            <a:solidFill>
              <a:srgbClr val="5259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3320" y="1664208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2ED573"/>
          </a:solidFill>
        </p:spPr>
      </p:sp>
      <p:sp>
        <p:nvSpPr>
          <p:cNvPr id="13" name="Text 11"/>
          <p:cNvSpPr/>
          <p:nvPr/>
        </p:nvSpPr>
        <p:spPr>
          <a:xfrm>
            <a:off x="3703320" y="1664208"/>
            <a:ext cx="1005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0D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✅ 已解决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703320" y="193852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涨势还能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持续多久？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03320" y="2514600"/>
            <a:ext cx="365760" cy="22860"/>
          </a:xfrm>
          <a:prstGeom prst="rect">
            <a:avLst/>
          </a:prstGeom>
          <a:solidFill>
            <a:srgbClr val="2ED573"/>
          </a:solidFill>
        </p:spPr>
      </p:sp>
      <p:sp>
        <p:nvSpPr>
          <p:cNvPr id="16" name="Text 14"/>
          <p:cNvSpPr/>
          <p:nvPr/>
        </p:nvSpPr>
        <p:spPr>
          <a:xfrm>
            <a:off x="3703320" y="2651760"/>
            <a:ext cx="233172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WoW 趋势监测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周环比趋势追踪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连涨≥3周自动检测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涨幅收窄判断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产出：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连涨10周但WoW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从9.5%降到3.8%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见顶信号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💡 判断锁价时机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现在锁还是再观望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0" y="1554480"/>
            <a:ext cx="2606040" cy="4572000"/>
          </a:xfrm>
          <a:prstGeom prst="roundRect">
            <a:avLst>
              <a:gd name="adj" fmla="val 2807"/>
            </a:avLst>
          </a:prstGeom>
          <a:solidFill>
            <a:srgbClr val="121A2E"/>
          </a:solidFill>
          <a:ln w="6350">
            <a:solidFill>
              <a:srgbClr val="5259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37960" y="1664208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E6A817"/>
          </a:solidFill>
        </p:spPr>
      </p:sp>
      <p:sp>
        <p:nvSpPr>
          <p:cNvPr id="19" name="Text 17"/>
          <p:cNvSpPr/>
          <p:nvPr/>
        </p:nvSpPr>
        <p:spPr>
          <a:xfrm>
            <a:off x="6537960" y="1664208"/>
            <a:ext cx="1005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0D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✅ 已解决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537960" y="193852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事件如何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影响运价？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37960" y="2514600"/>
            <a:ext cx="365760" cy="22860"/>
          </a:xfrm>
          <a:prstGeom prst="rect">
            <a:avLst/>
          </a:prstGeom>
          <a:solidFill>
            <a:srgbClr val="E6A817"/>
          </a:solidFill>
        </p:spPr>
      </p:sp>
      <p:sp>
        <p:nvSpPr>
          <p:cNvPr id="22" name="Text 20"/>
          <p:cNvSpPr/>
          <p:nvPr/>
        </p:nvSpPr>
        <p:spPr>
          <a:xfrm>
            <a:off x="6537960" y="2651760"/>
            <a:ext cx="233172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热点事件监控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自动抓取航运新闻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8类标签智能分类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航线关联引擎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产出：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巴拿马通行量上调至36艘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利好美东航线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马士基GRI上调→欧线看涨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💡 从看新闻猜到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事件→航线→影响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235440" y="1554480"/>
            <a:ext cx="2606040" cy="4572000"/>
          </a:xfrm>
          <a:prstGeom prst="roundRect">
            <a:avLst>
              <a:gd name="adj" fmla="val 2807"/>
            </a:avLst>
          </a:prstGeom>
          <a:solidFill>
            <a:srgbClr val="121A2E"/>
          </a:solidFill>
          <a:ln w="6350">
            <a:solidFill>
              <a:srgbClr val="5259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72600" y="1664208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525970"/>
          </a:solidFill>
        </p:spPr>
      </p:sp>
      <p:sp>
        <p:nvSpPr>
          <p:cNvPr id="25" name="Text 23"/>
          <p:cNvSpPr/>
          <p:nvPr/>
        </p:nvSpPr>
        <p:spPr>
          <a:xfrm>
            <a:off x="9372600" y="1664208"/>
            <a:ext cx="1005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0D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🔜 V2.0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372600" y="193852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延误/甩柜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风险多大？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372600" y="2514600"/>
            <a:ext cx="365760" cy="22860"/>
          </a:xfrm>
          <a:prstGeom prst="rect">
            <a:avLst/>
          </a:prstGeom>
          <a:solidFill>
            <a:srgbClr val="525970"/>
          </a:solidFill>
        </p:spPr>
      </p:sp>
      <p:sp>
        <p:nvSpPr>
          <p:cNvPr id="28" name="Text 26"/>
          <p:cNvSpPr/>
          <p:nvPr/>
        </p:nvSpPr>
        <p:spPr>
          <a:xfrm>
            <a:off x="9372600" y="2651760"/>
            <a:ext cx="233172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准班率追踪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港口拥堵指数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舱位/甩柜率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ETA变化监测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规划产出：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美西港口拥堵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建议提前5天订舱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备选船司：MSC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💡 从被动等通知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到提前规避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V2.0 核心方向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259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①⑤ 技术方案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658368"/>
            <a:ext cx="457200" cy="27432"/>
          </a:xfrm>
          <a:prstGeom prst="rect">
            <a:avLst/>
          </a:prstGeom>
          <a:solidFill>
            <a:srgbClr val="F9C74F"/>
          </a:solidFill>
        </p:spPr>
      </p:sp>
      <p:sp>
        <p:nvSpPr>
          <p:cNvPr id="4" name="Text 2"/>
          <p:cNvSpPr/>
          <p:nvPr/>
        </p:nvSpPr>
        <p:spPr>
          <a:xfrm>
            <a:off x="731520" y="777240"/>
            <a:ext cx="10058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C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🦝 小浣熊做了什么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8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智能体软件辅助热点新闻抓取、界面美化、流程衔接；其余全部由 🦝 小浣熊完成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121A2E"/>
          </a:solidFill>
          <a:ln w="6350">
            <a:solidFill>
              <a:srgbClr val="5259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828800"/>
            <a:ext cx="365760" cy="22860"/>
          </a:xfrm>
          <a:prstGeom prst="rect">
            <a:avLst/>
          </a:prstGeom>
          <a:solidFill>
            <a:srgbClr val="F9C74F"/>
          </a:solidFill>
        </p:spPr>
      </p:sp>
      <p:sp>
        <p:nvSpPr>
          <p:cNvPr id="8" name="Text 6"/>
          <p:cNvSpPr/>
          <p:nvPr/>
        </p:nvSpPr>
        <p:spPr>
          <a:xfrm>
            <a:off x="914400" y="192024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C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📊 数据分析引擎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3108960" cy="1417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30周SCFI清洗与标准化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异常值检测 / MED列插值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7指数质量分层(A/B/C)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30周87%真实数据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17520" y="3547872"/>
            <a:ext cx="1051560" cy="201168"/>
          </a:xfrm>
          <a:prstGeom prst="roundRect">
            <a:avLst>
              <a:gd name="adj" fmla="val 22727"/>
            </a:avLst>
          </a:prstGeom>
          <a:solidFill>
            <a:srgbClr val="080D1A"/>
          </a:solidFill>
          <a:ln w="6350">
            <a:solidFill>
              <a:srgbClr val="B88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3547872"/>
            <a:ext cx="10515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88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数据分析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480560" y="173736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121A2E"/>
          </a:solidFill>
          <a:ln w="6350">
            <a:solidFill>
              <a:srgbClr val="5259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828800"/>
            <a:ext cx="365760" cy="2286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14" name="Text 12"/>
          <p:cNvSpPr/>
          <p:nvPr/>
        </p:nvSpPr>
        <p:spPr>
          <a:xfrm>
            <a:off x="4663440" y="192024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💻 计算引擎开发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2240280"/>
            <a:ext cx="3108960" cy="1417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compute.py 631行模块化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v5→v6.3迭代升级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参数化驱动(config.yaml)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validate 0/0全绿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3547872"/>
            <a:ext cx="1051560" cy="201168"/>
          </a:xfrm>
          <a:prstGeom prst="roundRect">
            <a:avLst>
              <a:gd name="adj" fmla="val 22727"/>
            </a:avLst>
          </a:prstGeom>
          <a:solidFill>
            <a:srgbClr val="080D1A"/>
          </a:solidFill>
          <a:ln w="6350">
            <a:solidFill>
              <a:srgbClr val="B88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3547872"/>
            <a:ext cx="10515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88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代码生成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8229600" y="173736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121A2E"/>
          </a:solidFill>
          <a:ln w="6350">
            <a:solidFill>
              <a:srgbClr val="5259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1828800"/>
            <a:ext cx="365760" cy="22860"/>
          </a:xfrm>
          <a:prstGeom prst="rect">
            <a:avLst/>
          </a:prstGeom>
          <a:solidFill>
            <a:srgbClr val="E6A817"/>
          </a:solidFill>
        </p:spPr>
      </p:sp>
      <p:sp>
        <p:nvSpPr>
          <p:cNvPr id="20" name="Text 18"/>
          <p:cNvSpPr/>
          <p:nvPr/>
        </p:nvSpPr>
        <p:spPr>
          <a:xfrm>
            <a:off x="8412480" y="192024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A81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📰 热点事件分析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0" y="2240280"/>
            <a:ext cx="3108960" cy="1417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航运新闻自动抓取与解析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事件分类→关联航线→影响评估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8类标签: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运价/地缘/政策/运力/港口/船司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515600" y="3547872"/>
            <a:ext cx="1051560" cy="201168"/>
          </a:xfrm>
          <a:prstGeom prst="roundRect">
            <a:avLst>
              <a:gd name="adj" fmla="val 22727"/>
            </a:avLst>
          </a:prstGeom>
          <a:solidFill>
            <a:srgbClr val="080D1A"/>
          </a:solidFill>
          <a:ln w="6350">
            <a:solidFill>
              <a:srgbClr val="B88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0" y="3547872"/>
            <a:ext cx="10515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88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数据分析+代码生成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31520" y="411480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121A2E"/>
          </a:solidFill>
          <a:ln w="6350">
            <a:solidFill>
              <a:srgbClr val="5259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4206240"/>
            <a:ext cx="365760" cy="22860"/>
          </a:xfrm>
          <a:prstGeom prst="rect">
            <a:avLst/>
          </a:prstGeom>
          <a:solidFill>
            <a:srgbClr val="2ED573"/>
          </a:solidFill>
        </p:spPr>
      </p:sp>
      <p:sp>
        <p:nvSpPr>
          <p:cNvPr id="26" name="Text 24"/>
          <p:cNvSpPr/>
          <p:nvPr/>
        </p:nvSpPr>
        <p:spPr>
          <a:xfrm>
            <a:off x="914400" y="42976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D5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🔍 代码质量审查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4617720"/>
            <a:ext cx="3108960" cy="1417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三方独立审查→29条缺陷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6P0 / 8P1 / 15P2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22/29已修复(76%)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XSS+SRI安全加固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17520" y="5925312"/>
            <a:ext cx="1051560" cy="201168"/>
          </a:xfrm>
          <a:prstGeom prst="roundRect">
            <a:avLst>
              <a:gd name="adj" fmla="val 22727"/>
            </a:avLst>
          </a:prstGeom>
          <a:solidFill>
            <a:srgbClr val="080D1A"/>
          </a:solidFill>
          <a:ln w="6350">
            <a:solidFill>
              <a:srgbClr val="B88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0" y="5925312"/>
            <a:ext cx="10515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88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代码审查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480560" y="411480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121A2E"/>
          </a:solidFill>
          <a:ln w="6350">
            <a:solidFill>
              <a:srgbClr val="52597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17720" y="4206240"/>
            <a:ext cx="365760" cy="22860"/>
          </a:xfrm>
          <a:prstGeom prst="rect">
            <a:avLst/>
          </a:prstGeom>
          <a:solidFill>
            <a:srgbClr val="FF4757"/>
          </a:solidFill>
        </p:spPr>
      </p:sp>
      <p:sp>
        <p:nvSpPr>
          <p:cNvPr id="32" name="Text 30"/>
          <p:cNvSpPr/>
          <p:nvPr/>
        </p:nvSpPr>
        <p:spPr>
          <a:xfrm>
            <a:off x="4663440" y="42976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🧮 算法模型实现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663440" y="4617720"/>
            <a:ext cx="3108960" cy="1417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Z分数/P95/连涨检测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5种成本场景叠加计算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四指数交叉验证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质量降权/快通道修正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66560" y="5925312"/>
            <a:ext cx="1051560" cy="201168"/>
          </a:xfrm>
          <a:prstGeom prst="roundRect">
            <a:avLst>
              <a:gd name="adj" fmla="val 22727"/>
            </a:avLst>
          </a:prstGeom>
          <a:solidFill>
            <a:srgbClr val="080D1A"/>
          </a:solidFill>
          <a:ln w="6350">
            <a:solidFill>
              <a:srgbClr val="B88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5925312"/>
            <a:ext cx="10515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88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代码生成+数据分析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8229600" y="411480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121A2E"/>
          </a:solidFill>
          <a:ln w="6350">
            <a:solidFill>
              <a:srgbClr val="52597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66760" y="4206240"/>
            <a:ext cx="365760" cy="22860"/>
          </a:xfrm>
          <a:prstGeom prst="rect">
            <a:avLst/>
          </a:prstGeom>
          <a:solidFill>
            <a:srgbClr val="B88A2A"/>
          </a:solidFill>
        </p:spPr>
      </p:sp>
      <p:sp>
        <p:nvSpPr>
          <p:cNvPr id="38" name="Text 36"/>
          <p:cNvSpPr/>
          <p:nvPr/>
        </p:nvSpPr>
        <p:spPr>
          <a:xfrm>
            <a:off x="8412480" y="42976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8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📁 项目管理与协作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412480" y="4617720"/>
            <a:ext cx="3108960" cy="1417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~/小浣熊/项目工作区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21次Git提交/5预置Prompt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会员算力raccoon-chat-ml-5-5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 Skills全量调用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515600" y="5925312"/>
            <a:ext cx="1051560" cy="201168"/>
          </a:xfrm>
          <a:prstGeom prst="roundRect">
            <a:avLst>
              <a:gd name="adj" fmla="val 22727"/>
            </a:avLst>
          </a:prstGeom>
          <a:solidFill>
            <a:srgbClr val="080D1A"/>
          </a:solidFill>
          <a:ln w="6350">
            <a:solidFill>
              <a:srgbClr val="B88A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515600" y="5925312"/>
            <a:ext cx="10515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88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文件管理+会员算力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259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①⑥ 当前成果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658368"/>
            <a:ext cx="457200" cy="27432"/>
          </a:xfrm>
          <a:prstGeom prst="rect">
            <a:avLst/>
          </a:prstGeom>
          <a:solidFill>
            <a:srgbClr val="F9C74F"/>
          </a:solidFill>
        </p:spPr>
      </p:sp>
      <p:sp>
        <p:nvSpPr>
          <p:cNvPr id="4" name="Text 2"/>
          <p:cNvSpPr/>
          <p:nvPr/>
        </p:nvSpPr>
        <p:spPr>
          <a:xfrm>
            <a:off x="731520" y="777240"/>
            <a:ext cx="10058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C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Demo 阶段：已覆盖 4/7 核心痛点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💰 会不会涨价？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34640" y="1536192"/>
            <a:ext cx="4572000" cy="201168"/>
          </a:xfrm>
          <a:prstGeom prst="roundRect">
            <a:avLst>
              <a:gd name="adj" fmla="val 18182"/>
            </a:avLst>
          </a:prstGeom>
          <a:solidFill>
            <a:srgbClr val="121A2E"/>
          </a:solidFill>
        </p:spPr>
      </p:sp>
      <p:sp>
        <p:nvSpPr>
          <p:cNvPr id="7" name="Shape 5"/>
          <p:cNvSpPr/>
          <p:nvPr/>
        </p:nvSpPr>
        <p:spPr>
          <a:xfrm>
            <a:off x="2834640" y="1536192"/>
            <a:ext cx="4572000" cy="201168"/>
          </a:xfrm>
          <a:prstGeom prst="roundRect">
            <a:avLst>
              <a:gd name="adj" fmla="val 18182"/>
            </a:avLst>
          </a:prstGeom>
          <a:solidFill>
            <a:srgbClr val="2ED573"/>
          </a:solidFill>
        </p:spPr>
      </p:sp>
      <p:sp>
        <p:nvSpPr>
          <p:cNvPr id="8" name="Text 6"/>
          <p:cNvSpPr/>
          <p:nvPr/>
        </p:nvSpPr>
        <p:spPr>
          <a:xfrm>
            <a:off x="7498080" y="15087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0" y="15087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🎯 该不该发货？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4640" y="2039112"/>
            <a:ext cx="4572000" cy="201168"/>
          </a:xfrm>
          <a:prstGeom prst="roundRect">
            <a:avLst>
              <a:gd name="adj" fmla="val 18182"/>
            </a:avLst>
          </a:prstGeom>
          <a:solidFill>
            <a:srgbClr val="121A2E"/>
          </a:solidFill>
        </p:spPr>
      </p:sp>
      <p:sp>
        <p:nvSpPr>
          <p:cNvPr id="12" name="Shape 10"/>
          <p:cNvSpPr/>
          <p:nvPr/>
        </p:nvSpPr>
        <p:spPr>
          <a:xfrm>
            <a:off x="2834640" y="2039112"/>
            <a:ext cx="4572000" cy="201168"/>
          </a:xfrm>
          <a:prstGeom prst="roundRect">
            <a:avLst>
              <a:gd name="adj" fmla="val 18182"/>
            </a:avLst>
          </a:prstGeom>
          <a:solidFill>
            <a:srgbClr val="2ED573"/>
          </a:solidFill>
        </p:spPr>
      </p:sp>
      <p:sp>
        <p:nvSpPr>
          <p:cNvPr id="13" name="Text 11"/>
          <p:cNvSpPr/>
          <p:nvPr/>
        </p:nvSpPr>
        <p:spPr>
          <a:xfrm>
            <a:off x="7498080" y="20116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0" y="20116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251460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📰 局势怎么变？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34640" y="2542032"/>
            <a:ext cx="4572000" cy="201168"/>
          </a:xfrm>
          <a:prstGeom prst="roundRect">
            <a:avLst>
              <a:gd name="adj" fmla="val 18182"/>
            </a:avLst>
          </a:prstGeom>
          <a:solidFill>
            <a:srgbClr val="121A2E"/>
          </a:solidFill>
        </p:spPr>
      </p:sp>
      <p:sp>
        <p:nvSpPr>
          <p:cNvPr id="17" name="Shape 15"/>
          <p:cNvSpPr/>
          <p:nvPr/>
        </p:nvSpPr>
        <p:spPr>
          <a:xfrm>
            <a:off x="2834640" y="2542032"/>
            <a:ext cx="4572000" cy="201168"/>
          </a:xfrm>
          <a:prstGeom prst="roundRect">
            <a:avLst>
              <a:gd name="adj" fmla="val 18182"/>
            </a:avLst>
          </a:prstGeom>
          <a:solidFill>
            <a:srgbClr val="2ED573"/>
          </a:solidFill>
        </p:spPr>
      </p:sp>
      <p:sp>
        <p:nvSpPr>
          <p:cNvPr id="18" name="Text 16"/>
          <p:cNvSpPr/>
          <p:nvPr/>
        </p:nvSpPr>
        <p:spPr>
          <a:xfrm>
            <a:off x="7498080" y="25146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0" y="25146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301752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🔄 有替代方案吗？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34640" y="3044952"/>
            <a:ext cx="4572000" cy="201168"/>
          </a:xfrm>
          <a:prstGeom prst="roundRect">
            <a:avLst>
              <a:gd name="adj" fmla="val 18182"/>
            </a:avLst>
          </a:prstGeom>
          <a:solidFill>
            <a:srgbClr val="121A2E"/>
          </a:solidFill>
        </p:spPr>
      </p:sp>
      <p:sp>
        <p:nvSpPr>
          <p:cNvPr id="22" name="Shape 20"/>
          <p:cNvSpPr/>
          <p:nvPr/>
        </p:nvSpPr>
        <p:spPr>
          <a:xfrm>
            <a:off x="2834640" y="3044952"/>
            <a:ext cx="3200400" cy="201168"/>
          </a:xfrm>
          <a:prstGeom prst="roundRect">
            <a:avLst>
              <a:gd name="adj" fmla="val 18182"/>
            </a:avLst>
          </a:prstGeom>
          <a:solidFill>
            <a:srgbClr val="E6A817"/>
          </a:solidFill>
        </p:spPr>
      </p:sp>
      <p:sp>
        <p:nvSpPr>
          <p:cNvPr id="23" name="Text 21"/>
          <p:cNvSpPr/>
          <p:nvPr/>
        </p:nvSpPr>
        <p:spPr>
          <a:xfrm>
            <a:off x="7498080" y="3017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0" y="3017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⚠️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352044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⏱️ 会不会延误？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834640" y="3547872"/>
            <a:ext cx="4572000" cy="201168"/>
          </a:xfrm>
          <a:prstGeom prst="roundRect">
            <a:avLst>
              <a:gd name="adj" fmla="val 18182"/>
            </a:avLst>
          </a:prstGeom>
          <a:solidFill>
            <a:srgbClr val="121A2E"/>
          </a:solidFill>
        </p:spPr>
      </p:sp>
      <p:sp>
        <p:nvSpPr>
          <p:cNvPr id="27" name="Shape 25"/>
          <p:cNvSpPr/>
          <p:nvPr/>
        </p:nvSpPr>
        <p:spPr>
          <a:xfrm>
            <a:off x="2834640" y="3547872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525970"/>
          </a:solidFill>
        </p:spPr>
      </p:sp>
      <p:sp>
        <p:nvSpPr>
          <p:cNvPr id="28" name="Text 26"/>
          <p:cNvSpPr/>
          <p:nvPr/>
        </p:nvSpPr>
        <p:spPr>
          <a:xfrm>
            <a:off x="7498080" y="35204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0" y="35204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🔜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" y="402336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📦 会不会订不到舱？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834640" y="4050792"/>
            <a:ext cx="4572000" cy="201168"/>
          </a:xfrm>
          <a:prstGeom prst="roundRect">
            <a:avLst>
              <a:gd name="adj" fmla="val 18182"/>
            </a:avLst>
          </a:prstGeom>
          <a:solidFill>
            <a:srgbClr val="121A2E"/>
          </a:solidFill>
        </p:spPr>
      </p:sp>
      <p:sp>
        <p:nvSpPr>
          <p:cNvPr id="32" name="Shape 30"/>
          <p:cNvSpPr/>
          <p:nvPr/>
        </p:nvSpPr>
        <p:spPr>
          <a:xfrm>
            <a:off x="2834640" y="4050792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525970"/>
          </a:solidFill>
        </p:spPr>
      </p:sp>
      <p:sp>
        <p:nvSpPr>
          <p:cNvPr id="33" name="Text 31"/>
          <p:cNvSpPr/>
          <p:nvPr/>
        </p:nvSpPr>
        <p:spPr>
          <a:xfrm>
            <a:off x="7498080" y="40233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46720" y="40233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🔜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31520" y="452628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🕵️ 货代/船司有风险？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834640" y="4553712"/>
            <a:ext cx="4572000" cy="201168"/>
          </a:xfrm>
          <a:prstGeom prst="roundRect">
            <a:avLst>
              <a:gd name="adj" fmla="val 18182"/>
            </a:avLst>
          </a:prstGeom>
          <a:solidFill>
            <a:srgbClr val="121A2E"/>
          </a:solidFill>
        </p:spPr>
      </p:sp>
      <p:sp>
        <p:nvSpPr>
          <p:cNvPr id="37" name="Shape 35"/>
          <p:cNvSpPr/>
          <p:nvPr/>
        </p:nvSpPr>
        <p:spPr>
          <a:xfrm>
            <a:off x="2834640" y="4553712"/>
            <a:ext cx="228600" cy="201168"/>
          </a:xfrm>
          <a:prstGeom prst="roundRect">
            <a:avLst>
              <a:gd name="adj" fmla="val 18182"/>
            </a:avLst>
          </a:prstGeom>
          <a:solidFill>
            <a:srgbClr val="525970"/>
          </a:solidFill>
        </p:spPr>
      </p:sp>
      <p:sp>
        <p:nvSpPr>
          <p:cNvPr id="38" name="Text 36"/>
          <p:cNvSpPr/>
          <p:nvPr/>
        </p:nvSpPr>
        <p:spPr>
          <a:xfrm>
            <a:off x="7498080" y="45262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046720" y="45262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📋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778240" y="1463040"/>
            <a:ext cx="3200400" cy="457200"/>
          </a:xfrm>
          <a:prstGeom prst="roundRect">
            <a:avLst>
              <a:gd name="adj" fmla="val 8000"/>
            </a:avLst>
          </a:prstGeom>
          <a:solidFill>
            <a:srgbClr val="121A2E"/>
          </a:solidFill>
        </p:spPr>
      </p:sp>
      <p:sp>
        <p:nvSpPr>
          <p:cNvPr id="41" name="Text 39"/>
          <p:cNvSpPr/>
          <p:nvPr/>
        </p:nvSpPr>
        <p:spPr>
          <a:xfrm>
            <a:off x="8869680" y="1508760"/>
            <a:ext cx="1188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监测航线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058400" y="1508760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4主力+综合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058400" y="1709928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8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8+ 含东南亚/中东/南美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869680" y="2011680"/>
            <a:ext cx="1188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数据跨度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058400" y="2011680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30周 87%真实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058400" y="2212848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8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50+周 95%+实时自动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8778240" y="2468880"/>
            <a:ext cx="3200400" cy="457200"/>
          </a:xfrm>
          <a:prstGeom prst="roundRect">
            <a:avLst>
              <a:gd name="adj" fmla="val 8000"/>
            </a:avLst>
          </a:prstGeom>
          <a:solidFill>
            <a:srgbClr val="121A2E"/>
          </a:solidFill>
        </p:spPr>
      </p:sp>
      <p:sp>
        <p:nvSpPr>
          <p:cNvPr id="48" name="Text 46"/>
          <p:cNvSpPr/>
          <p:nvPr/>
        </p:nvSpPr>
        <p:spPr>
          <a:xfrm>
            <a:off x="8869680" y="2514600"/>
            <a:ext cx="1188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指数覆盖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058400" y="2514600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7个权威指数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058400" y="2715768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8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10+ 含准班率/拥堵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869680" y="3017520"/>
            <a:ext cx="1188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预警维度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058400" y="3017520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Z+P95+连涨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058400" y="3218688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8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+季节性+事件+预测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778240" y="3474720"/>
            <a:ext cx="3200400" cy="457200"/>
          </a:xfrm>
          <a:prstGeom prst="roundRect">
            <a:avLst>
              <a:gd name="adj" fmla="val 8000"/>
            </a:avLst>
          </a:prstGeom>
          <a:solidFill>
            <a:srgbClr val="121A2E"/>
          </a:solidFill>
        </p:spPr>
      </p:sp>
      <p:sp>
        <p:nvSpPr>
          <p:cNvPr id="55" name="Text 53"/>
          <p:cNvSpPr/>
          <p:nvPr/>
        </p:nvSpPr>
        <p:spPr>
          <a:xfrm>
            <a:off x="8869680" y="3520440"/>
            <a:ext cx="1188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热点事件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058400" y="3520440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8条实时监控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058400" y="3721608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8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自动抓取 智能分类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869680" y="4023360"/>
            <a:ext cx="1188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代码&amp;质量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058400" y="4023360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631行 0/0全绿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058400" y="4224528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8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1000+ CI/CD 80%覆盖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8778240" y="4480560"/>
            <a:ext cx="3200400" cy="457200"/>
          </a:xfrm>
          <a:prstGeom prst="roundRect">
            <a:avLst>
              <a:gd name="adj" fmla="val 8000"/>
            </a:avLst>
          </a:prstGeom>
          <a:solidFill>
            <a:srgbClr val="121A2E"/>
          </a:solidFill>
        </p:spPr>
      </p:sp>
      <p:sp>
        <p:nvSpPr>
          <p:cNvPr id="62" name="Text 60"/>
          <p:cNvSpPr/>
          <p:nvPr/>
        </p:nvSpPr>
        <p:spPr>
          <a:xfrm>
            <a:off x="8869680" y="4526280"/>
            <a:ext cx="1188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效率提升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0058400" y="4526280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3-4h→10-20min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0058400" y="4727448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8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一键运行 5min闭环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869680" y="5029200"/>
            <a:ext cx="1188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审查通过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0058400" y="5029200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三方 22/29修复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0058400" y="5230368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8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持续审查 自动化门禁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259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①⑦ 作品演示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658368"/>
            <a:ext cx="457200" cy="27432"/>
          </a:xfrm>
          <a:prstGeom prst="rect">
            <a:avLst/>
          </a:prstGeom>
          <a:solidFill>
            <a:srgbClr val="F9C74F"/>
          </a:solidFill>
        </p:spPr>
      </p:sp>
      <p:sp>
        <p:nvSpPr>
          <p:cNvPr id="4" name="Text 2"/>
          <p:cNvSpPr/>
          <p:nvPr/>
        </p:nvSpPr>
        <p:spPr>
          <a:xfrm>
            <a:off x="731520" y="777240"/>
            <a:ext cx="10058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C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Demo 演示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56870" y="1807210"/>
            <a:ext cx="7936865" cy="4334510"/>
          </a:xfrm>
          <a:prstGeom prst="roundRect">
            <a:avLst>
              <a:gd name="adj" fmla="val 2083"/>
            </a:avLst>
          </a:prstGeom>
          <a:solidFill>
            <a:srgbClr val="121A2E"/>
          </a:solidFill>
          <a:ln w="19050">
            <a:solidFill>
              <a:srgbClr val="F9C74F"/>
            </a:solidFill>
            <a:prstDash val="solid"/>
          </a:ln>
        </p:spPr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8586470" y="1852295"/>
            <a:ext cx="274320" cy="274320"/>
          </a:xfrm>
          <a:prstGeom prst="ellipse">
            <a:avLst/>
          </a:prstGeom>
          <a:solidFill>
            <a:srgbClr val="F9C74F"/>
          </a:solidFill>
        </p:spPr>
      </p:sp>
      <p:sp>
        <p:nvSpPr>
          <p:cNvPr id="9" name="Text 7"/>
          <p:cNvSpPr/>
          <p:nvPr>
            <p:custDataLst>
              <p:tags r:id="rId2"/>
            </p:custDataLst>
          </p:nvPr>
        </p:nvSpPr>
        <p:spPr>
          <a:xfrm>
            <a:off x="8586470" y="1861439"/>
            <a:ext cx="274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0D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>
            <p:custDataLst>
              <p:tags r:id="rId3"/>
            </p:custDataLst>
          </p:nvPr>
        </p:nvSpPr>
        <p:spPr>
          <a:xfrm>
            <a:off x="8705342" y="2154047"/>
            <a:ext cx="18288" cy="594360"/>
          </a:xfrm>
          <a:prstGeom prst="rect">
            <a:avLst/>
          </a:prstGeom>
          <a:solidFill>
            <a:srgbClr val="525970"/>
          </a:solidFill>
        </p:spPr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9135110" y="180721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Dashboard 打开</a:t>
            </a:r>
            <a:endParaRPr lang="en-US" sz="1200" dirty="0"/>
          </a:p>
        </p:txBody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10620375" y="1823085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航线概览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5航线实时卡片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+热点事件栏</a:t>
            </a:r>
            <a:endParaRPr lang="en-US" sz="1000" dirty="0"/>
          </a:p>
        </p:txBody>
      </p:sp>
      <p:sp>
        <p:nvSpPr>
          <p:cNvPr id="13" name="Shape 11"/>
          <p:cNvSpPr/>
          <p:nvPr>
            <p:custDataLst>
              <p:tags r:id="rId6"/>
            </p:custDataLst>
          </p:nvPr>
        </p:nvSpPr>
        <p:spPr>
          <a:xfrm>
            <a:off x="8586470" y="2858135"/>
            <a:ext cx="274320" cy="274320"/>
          </a:xfrm>
          <a:prstGeom prst="ellipse">
            <a:avLst/>
          </a:prstGeom>
          <a:solidFill>
            <a:srgbClr val="F9C74F"/>
          </a:solidFill>
        </p:spPr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8586470" y="2867279"/>
            <a:ext cx="274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0D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>
            <p:custDataLst>
              <p:tags r:id="rId8"/>
            </p:custDataLst>
          </p:nvPr>
        </p:nvSpPr>
        <p:spPr>
          <a:xfrm>
            <a:off x="8705342" y="3159887"/>
            <a:ext cx="18288" cy="594360"/>
          </a:xfrm>
          <a:prstGeom prst="rect">
            <a:avLst/>
          </a:prstGeom>
          <a:solidFill>
            <a:srgbClr val="525970"/>
          </a:solidFill>
        </p:spPr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9135110" y="284988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预警分析</a:t>
            </a:r>
            <a:endParaRPr lang="en-US" sz="1200" dirty="0"/>
          </a:p>
        </p:txBody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10620375" y="2870835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红黄绿三级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Z≥2自动触发</a:t>
            </a:r>
            <a:endParaRPr lang="en-US" sz="1000" dirty="0"/>
          </a:p>
        </p:txBody>
      </p:sp>
      <p:sp>
        <p:nvSpPr>
          <p:cNvPr id="18" name="Shape 16"/>
          <p:cNvSpPr/>
          <p:nvPr>
            <p:custDataLst>
              <p:tags r:id="rId11"/>
            </p:custDataLst>
          </p:nvPr>
        </p:nvSpPr>
        <p:spPr>
          <a:xfrm>
            <a:off x="8586470" y="3863975"/>
            <a:ext cx="274320" cy="274320"/>
          </a:xfrm>
          <a:prstGeom prst="ellipse">
            <a:avLst/>
          </a:prstGeom>
          <a:solidFill>
            <a:srgbClr val="F9C74F"/>
          </a:solidFill>
        </p:spPr>
      </p:sp>
      <p:sp>
        <p:nvSpPr>
          <p:cNvPr id="19" name="Text 17"/>
          <p:cNvSpPr/>
          <p:nvPr>
            <p:custDataLst>
              <p:tags r:id="rId12"/>
            </p:custDataLst>
          </p:nvPr>
        </p:nvSpPr>
        <p:spPr>
          <a:xfrm>
            <a:off x="8586470" y="3873119"/>
            <a:ext cx="274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0D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>
            <p:custDataLst>
              <p:tags r:id="rId13"/>
            </p:custDataLst>
          </p:nvPr>
        </p:nvSpPr>
        <p:spPr>
          <a:xfrm>
            <a:off x="8705342" y="4165727"/>
            <a:ext cx="18288" cy="594360"/>
          </a:xfrm>
          <a:prstGeom prst="rect">
            <a:avLst/>
          </a:prstGeom>
          <a:solidFill>
            <a:srgbClr val="525970"/>
          </a:solidFill>
        </p:spPr>
      </p:sp>
      <p:sp>
        <p:nvSpPr>
          <p:cNvPr id="21" name="Text 19"/>
          <p:cNvSpPr/>
          <p:nvPr>
            <p:custDataLst>
              <p:tags r:id="rId14"/>
            </p:custDataLst>
          </p:nvPr>
        </p:nvSpPr>
        <p:spPr>
          <a:xfrm>
            <a:off x="9135110" y="3830955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决策建议</a:t>
            </a:r>
            <a:endParaRPr lang="en-US" sz="1200" dirty="0"/>
          </a:p>
        </p:txBody>
      </p:sp>
      <p:sp>
        <p:nvSpPr>
          <p:cNvPr id="22" name="Text 20"/>
          <p:cNvSpPr/>
          <p:nvPr>
            <p:custDataLst>
              <p:tags r:id="rId15"/>
            </p:custDataLst>
          </p:nvPr>
        </p:nvSpPr>
        <p:spPr>
          <a:xfrm>
            <a:off x="10534650" y="3863975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按航线差异化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置信度标签</a:t>
            </a:r>
            <a:endParaRPr lang="en-US" sz="1000" dirty="0"/>
          </a:p>
        </p:txBody>
      </p:sp>
      <p:sp>
        <p:nvSpPr>
          <p:cNvPr id="23" name="Shape 21"/>
          <p:cNvSpPr/>
          <p:nvPr>
            <p:custDataLst>
              <p:tags r:id="rId16"/>
            </p:custDataLst>
          </p:nvPr>
        </p:nvSpPr>
        <p:spPr>
          <a:xfrm>
            <a:off x="8586470" y="4869815"/>
            <a:ext cx="274320" cy="274320"/>
          </a:xfrm>
          <a:prstGeom prst="ellipse">
            <a:avLst/>
          </a:prstGeom>
          <a:solidFill>
            <a:srgbClr val="F9C74F"/>
          </a:solidFill>
        </p:spPr>
      </p:sp>
      <p:sp>
        <p:nvSpPr>
          <p:cNvPr id="24" name="Text 22"/>
          <p:cNvSpPr/>
          <p:nvPr>
            <p:custDataLst>
              <p:tags r:id="rId17"/>
            </p:custDataLst>
          </p:nvPr>
        </p:nvSpPr>
        <p:spPr>
          <a:xfrm>
            <a:off x="8586470" y="4878959"/>
            <a:ext cx="274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0D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Shape 23"/>
          <p:cNvSpPr/>
          <p:nvPr>
            <p:custDataLst>
              <p:tags r:id="rId18"/>
            </p:custDataLst>
          </p:nvPr>
        </p:nvSpPr>
        <p:spPr>
          <a:xfrm>
            <a:off x="8705342" y="5171567"/>
            <a:ext cx="18288" cy="594360"/>
          </a:xfrm>
          <a:prstGeom prst="rect">
            <a:avLst/>
          </a:prstGeom>
          <a:solidFill>
            <a:srgbClr val="525970"/>
          </a:solidFill>
        </p:spPr>
      </p:sp>
      <p:sp>
        <p:nvSpPr>
          <p:cNvPr id="26" name="Text 24"/>
          <p:cNvSpPr/>
          <p:nvPr>
            <p:custDataLst>
              <p:tags r:id="rId19"/>
            </p:custDataLst>
          </p:nvPr>
        </p:nvSpPr>
        <p:spPr>
          <a:xfrm>
            <a:off x="9135110" y="4860925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指数验证</a:t>
            </a:r>
            <a:endParaRPr lang="en-US" sz="1200" dirty="0"/>
          </a:p>
        </p:txBody>
      </p:sp>
      <p:sp>
        <p:nvSpPr>
          <p:cNvPr id="27" name="Text 25"/>
          <p:cNvSpPr/>
          <p:nvPr>
            <p:custDataLst>
              <p:tags r:id="rId20"/>
            </p:custDataLst>
          </p:nvPr>
        </p:nvSpPr>
        <p:spPr>
          <a:xfrm>
            <a:off x="10534650" y="4953635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7指数交叉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四指数一致性</a:t>
            </a:r>
            <a:endParaRPr lang="en-US" sz="1000" dirty="0"/>
          </a:p>
        </p:txBody>
      </p:sp>
      <p:sp>
        <p:nvSpPr>
          <p:cNvPr id="28" name="Shape 26"/>
          <p:cNvSpPr/>
          <p:nvPr>
            <p:custDataLst>
              <p:tags r:id="rId21"/>
            </p:custDataLst>
          </p:nvPr>
        </p:nvSpPr>
        <p:spPr>
          <a:xfrm>
            <a:off x="8586470" y="5875655"/>
            <a:ext cx="274320" cy="274320"/>
          </a:xfrm>
          <a:prstGeom prst="ellipse">
            <a:avLst/>
          </a:prstGeom>
          <a:solidFill>
            <a:srgbClr val="2ED573"/>
          </a:solidFill>
        </p:spPr>
      </p:sp>
      <p:sp>
        <p:nvSpPr>
          <p:cNvPr id="29" name="Text 27"/>
          <p:cNvSpPr/>
          <p:nvPr>
            <p:custDataLst>
              <p:tags r:id="rId22"/>
            </p:custDataLst>
          </p:nvPr>
        </p:nvSpPr>
        <p:spPr>
          <a:xfrm>
            <a:off x="8586470" y="5884799"/>
            <a:ext cx="274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0D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>
            <p:custDataLst>
              <p:tags r:id="rId23"/>
            </p:custDataLst>
          </p:nvPr>
        </p:nvSpPr>
        <p:spPr>
          <a:xfrm>
            <a:off x="9135110" y="584200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从业者问答</a:t>
            </a:r>
            <a:endParaRPr lang="en-US" sz="1200" dirty="0"/>
          </a:p>
        </p:txBody>
      </p:sp>
      <p:sp>
        <p:nvSpPr>
          <p:cNvPr id="31" name="Text 29"/>
          <p:cNvSpPr/>
          <p:nvPr>
            <p:custDataLst>
              <p:tags r:id="rId24"/>
            </p:custDataLst>
          </p:nvPr>
        </p:nvSpPr>
        <p:spPr>
          <a:xfrm>
            <a:off x="10534650" y="5832475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6题真实数据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截屏即周报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797540" y="6602095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259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9</a:t>
            </a:r>
            <a:endParaRPr lang="en-US" sz="1000" dirty="0"/>
          </a:p>
        </p:txBody>
      </p:sp>
      <p:pic>
        <p:nvPicPr>
          <p:cNvPr id="33" name="164731e7eda9b5bbf6ac9ac1e415f08e">
            <a:hlinkClick r:id="" action="ppaction://media"/>
          </p:cNvPr>
          <p:cNvPicPr/>
          <p:nvPr>
            <a:videoFile r:link="rId25"/>
            <p:extLst>
              <p:ext uri="{DAA4B4D4-6D71-4841-9C94-3DE7FCFB9230}">
                <p14:media xmlns:p14="http://schemas.microsoft.com/office/powerpoint/2010/main" r:embed="rId26"/>
              </p:ext>
            </p:extLst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509270" y="1876425"/>
            <a:ext cx="7644765" cy="4143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 mute="1">
                <p:cTn id="2" fill="hold" display="1">
                  <p:stCondLst>
                    <p:cond delay="indefinite"/>
                  </p:stCondLst>
                </p:cTn>
                <p:tgtEl>
                  <p:spTgt spid="3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①⑧ 远期规划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658368"/>
            <a:ext cx="457200" cy="27432"/>
          </a:xfrm>
          <a:prstGeom prst="rect">
            <a:avLst/>
          </a:prstGeom>
          <a:solidFill>
            <a:srgbClr val="F9C74F"/>
          </a:solidFill>
        </p:spPr>
      </p:sp>
      <p:sp>
        <p:nvSpPr>
          <p:cNvPr id="4" name="Text 2"/>
          <p:cNvSpPr/>
          <p:nvPr/>
        </p:nvSpPr>
        <p:spPr>
          <a:xfrm>
            <a:off x="731520" y="777240"/>
            <a:ext cx="10058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C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 Demo 到产品：覆盖全部 7 大痛点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🛠 技术路线（按痛点推进）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4846320" cy="1005840"/>
          </a:xfrm>
          <a:prstGeom prst="roundRect">
            <a:avLst>
              <a:gd name="adj" fmla="val 5455"/>
            </a:avLst>
          </a:prstGeom>
          <a:solidFill>
            <a:srgbClr val="121A2E"/>
          </a:solidFill>
          <a:ln w="6350">
            <a:solidFill>
              <a:srgbClr val="5259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057400"/>
            <a:ext cx="274320" cy="18288"/>
          </a:xfrm>
          <a:prstGeom prst="rect">
            <a:avLst/>
          </a:prstGeom>
          <a:solidFill>
            <a:srgbClr val="2ED573"/>
          </a:solidFill>
        </p:spPr>
      </p:sp>
      <p:sp>
        <p:nvSpPr>
          <p:cNvPr id="8" name="Text 6"/>
          <p:cNvSpPr/>
          <p:nvPr/>
        </p:nvSpPr>
        <p:spPr>
          <a:xfrm>
            <a:off x="1005840" y="2148840"/>
            <a:ext cx="4480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D5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V1.0 Demo · 已完成 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423160"/>
            <a:ext cx="4480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 涨价+发货+事件+替代（部分）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3200400"/>
            <a:ext cx="4846320" cy="1005840"/>
          </a:xfrm>
          <a:prstGeom prst="roundRect">
            <a:avLst>
              <a:gd name="adj" fmla="val 5455"/>
            </a:avLst>
          </a:prstGeom>
          <a:solidFill>
            <a:srgbClr val="121A2E"/>
          </a:solidFill>
          <a:ln w="6350">
            <a:solidFill>
              <a:srgbClr val="5259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3291840"/>
            <a:ext cx="274320" cy="18288"/>
          </a:xfrm>
          <a:prstGeom prst="rect">
            <a:avLst/>
          </a:prstGeom>
          <a:solidFill>
            <a:srgbClr val="F9C74F"/>
          </a:solidFill>
        </p:spPr>
      </p:sp>
      <p:sp>
        <p:nvSpPr>
          <p:cNvPr id="12" name="Text 10"/>
          <p:cNvSpPr/>
          <p:nvPr/>
        </p:nvSpPr>
        <p:spPr>
          <a:xfrm>
            <a:off x="1005840" y="3383280"/>
            <a:ext cx="4480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C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V2.0 产品化 · 3-6个月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657600"/>
            <a:ext cx="4480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 延误预测+舱位预警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实时数据接入 · 飞书推送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4434840"/>
            <a:ext cx="4846320" cy="1005840"/>
          </a:xfrm>
          <a:prstGeom prst="roundRect">
            <a:avLst>
              <a:gd name="adj" fmla="val 5455"/>
            </a:avLst>
          </a:prstGeom>
          <a:solidFill>
            <a:srgbClr val="121A2E"/>
          </a:solidFill>
          <a:ln w="6350">
            <a:solidFill>
              <a:srgbClr val="5259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4526280"/>
            <a:ext cx="274320" cy="18288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16" name="Text 14"/>
          <p:cNvSpPr/>
          <p:nvPr/>
        </p:nvSpPr>
        <p:spPr>
          <a:xfrm>
            <a:off x="1005840" y="4617720"/>
            <a:ext cx="44805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V3.0 平台化 · 6-12个月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4892040"/>
            <a:ext cx="4480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 货代风控+责任归属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多语言 · API · SaaS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576072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C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效率目标：3-4h/周 → 5min/周（全自动）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146304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📈 商业路线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92240" y="1965960"/>
            <a:ext cx="5029200" cy="1005840"/>
          </a:xfrm>
          <a:prstGeom prst="roundRect">
            <a:avLst>
              <a:gd name="adj" fmla="val 5455"/>
            </a:avLst>
          </a:prstGeom>
          <a:solidFill>
            <a:srgbClr val="121A2E"/>
          </a:solidFill>
          <a:ln w="6350">
            <a:solidFill>
              <a:srgbClr val="5259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0" y="2057400"/>
            <a:ext cx="1280160" cy="182880"/>
          </a:xfrm>
          <a:prstGeom prst="roundRect">
            <a:avLst>
              <a:gd name="adj" fmla="val 25000"/>
            </a:avLst>
          </a:prstGeom>
          <a:solidFill>
            <a:srgbClr val="F9C74F"/>
          </a:solidFill>
        </p:spPr>
      </p:sp>
      <p:sp>
        <p:nvSpPr>
          <p:cNvPr id="22" name="Text 20"/>
          <p:cNvSpPr/>
          <p:nvPr/>
        </p:nvSpPr>
        <p:spPr>
          <a:xfrm>
            <a:off x="10058400" y="2057400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80D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0-3个月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629400" y="2075688"/>
            <a:ext cx="3200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C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Phase 1 内测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2377440"/>
            <a:ext cx="4663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邀请10-20个跨境卖家免费内测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验证涨价+发货+事件 PMF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92240" y="3200400"/>
            <a:ext cx="5029200" cy="1005840"/>
          </a:xfrm>
          <a:prstGeom prst="roundRect">
            <a:avLst>
              <a:gd name="adj" fmla="val 5455"/>
            </a:avLst>
          </a:prstGeom>
          <a:solidFill>
            <a:srgbClr val="121A2E"/>
          </a:solidFill>
          <a:ln w="6350">
            <a:solidFill>
              <a:srgbClr val="5259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0" y="3291840"/>
            <a:ext cx="1280160" cy="182880"/>
          </a:xfrm>
          <a:prstGeom prst="roundRect">
            <a:avLst>
              <a:gd name="adj" fmla="val 25000"/>
            </a:avLst>
          </a:prstGeom>
          <a:solidFill>
            <a:srgbClr val="F9C74F"/>
          </a:solidFill>
        </p:spPr>
      </p:sp>
      <p:sp>
        <p:nvSpPr>
          <p:cNvPr id="27" name="Text 25"/>
          <p:cNvSpPr/>
          <p:nvPr/>
        </p:nvSpPr>
        <p:spPr>
          <a:xfrm>
            <a:off x="10058400" y="3291840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80D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3-6个月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629400" y="3310128"/>
            <a:ext cx="3200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C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Phase 2 公测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29400" y="3611880"/>
            <a:ext cx="4663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免费版开放 100+用户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接入延误+舱位数据 打磨留存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92240" y="4434840"/>
            <a:ext cx="5029200" cy="1005840"/>
          </a:xfrm>
          <a:prstGeom prst="roundRect">
            <a:avLst>
              <a:gd name="adj" fmla="val 5455"/>
            </a:avLst>
          </a:prstGeom>
          <a:solidFill>
            <a:srgbClr val="121A2E"/>
          </a:solidFill>
          <a:ln w="6350">
            <a:solidFill>
              <a:srgbClr val="52597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58400" y="4526280"/>
            <a:ext cx="1280160" cy="182880"/>
          </a:xfrm>
          <a:prstGeom prst="roundRect">
            <a:avLst>
              <a:gd name="adj" fmla="val 25000"/>
            </a:avLst>
          </a:prstGeom>
          <a:solidFill>
            <a:srgbClr val="F9C74F"/>
          </a:solidFill>
        </p:spPr>
      </p:sp>
      <p:sp>
        <p:nvSpPr>
          <p:cNvPr id="32" name="Text 30"/>
          <p:cNvSpPr/>
          <p:nvPr/>
        </p:nvSpPr>
        <p:spPr>
          <a:xfrm>
            <a:off x="10058400" y="4526280"/>
            <a:ext cx="1280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80D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6-12个月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629400" y="4544568"/>
            <a:ext cx="3200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C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Phase 3 商业化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29400" y="4846320"/>
            <a:ext cx="4663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 ¥99/月(全航线+场景)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 ¥499/月(API+多用户)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市场空间 ≈ ¥700万/年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576072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C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60万中小卖家 × 1%转化 × ¥99/月 ≈ ¥700万/年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259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1828800"/>
            <a:ext cx="1828800" cy="1828800"/>
          </a:xfrm>
          <a:prstGeom prst="ellipse">
            <a:avLst/>
          </a:prstGeom>
          <a:solidFill>
            <a:srgbClr val="121A2E"/>
          </a:solidFill>
          <a:ln w="19050">
            <a:solidFill>
              <a:srgbClr val="F9C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0" y="2194560"/>
            <a:ext cx="1828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👤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C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袁愉隆（along）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25196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个人开发者 · 全栈参赛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0" y="146304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C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背景与技能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764792"/>
            <a:ext cx="365760" cy="18288"/>
          </a:xfrm>
          <a:prstGeom prst="rect">
            <a:avLst/>
          </a:prstGeom>
          <a:solidFill>
            <a:srgbClr val="F9C74F"/>
          </a:solidFill>
        </p:spPr>
      </p:sp>
      <p:sp>
        <p:nvSpPr>
          <p:cNvPr id="8" name="Text 6"/>
          <p:cNvSpPr/>
          <p:nvPr/>
        </p:nvSpPr>
        <p:spPr>
          <a:xfrm>
            <a:off x="6400800" y="1920240"/>
            <a:ext cx="502920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9C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 </a:t>
            </a:r>
            <a:r>
              <a:rPr lang="en-US" sz="11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金融 + 财税 + 旅游跨行业视角
</a:t>
            </a:r>
            <a:r>
              <a:rPr lang="en-US" sz="1100" dirty="0">
                <a:solidFill>
                  <a:srgbClr val="F9C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 </a:t>
            </a:r>
            <a:r>
              <a:rPr lang="en-US" sz="11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Python开发 / AI工具链深度使用
</a:t>
            </a:r>
            <a:r>
              <a:rPr lang="en-US" sz="1100" dirty="0">
                <a:solidFill>
                  <a:srgbClr val="F9C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 </a:t>
            </a:r>
            <a:r>
              <a:rPr lang="en-US" sz="11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办公小浣熊30 Skills全量调用
</a:t>
            </a:r>
            <a:r>
              <a:rPr lang="en-US" sz="1100" dirty="0">
                <a:solidFill>
                  <a:srgbClr val="F9C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 </a:t>
            </a:r>
            <a:r>
              <a:rPr lang="en-US" sz="11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智能体软件（资料查询/界面/衔接）
</a:t>
            </a:r>
            <a:r>
              <a:rPr lang="en-US" sz="1100" dirty="0">
                <a:solidFill>
                  <a:srgbClr val="F9C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 </a:t>
            </a:r>
            <a:r>
              <a:rPr lang="en-US" sz="11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GitHub: along0013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365760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C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项目角色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3959352"/>
            <a:ext cx="365760" cy="18288"/>
          </a:xfrm>
          <a:prstGeom prst="rect">
            <a:avLst/>
          </a:prstGeom>
          <a:solidFill>
            <a:srgbClr val="F9C74F"/>
          </a:solidFill>
        </p:spPr>
      </p:sp>
      <p:sp>
        <p:nvSpPr>
          <p:cNvPr id="11" name="Text 9"/>
          <p:cNvSpPr/>
          <p:nvPr/>
        </p:nvSpPr>
        <p:spPr>
          <a:xfrm>
            <a:off x="6400800" y="4114800"/>
            <a:ext cx="502920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9C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 </a:t>
            </a:r>
            <a:r>
              <a:rPr lang="en-US" sz="11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产品设计 + 数据架构
</a:t>
            </a:r>
            <a:r>
              <a:rPr lang="en-US" sz="1100" dirty="0">
                <a:solidFill>
                  <a:srgbClr val="F9C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 </a:t>
            </a:r>
            <a:r>
              <a:rPr lang="en-US" sz="11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算法设计与业务逻辑（小浣熊实现）
</a:t>
            </a:r>
            <a:r>
              <a:rPr lang="en-US" sz="1100" dirty="0">
                <a:solidFill>
                  <a:srgbClr val="F9C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 </a:t>
            </a:r>
            <a:r>
              <a:rPr lang="en-US" sz="11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30周SCFI数据采集与治理
</a:t>
            </a:r>
            <a:r>
              <a:rPr lang="en-US" sz="1100" dirty="0">
                <a:solidFill>
                  <a:srgbClr val="F9C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 </a:t>
            </a:r>
            <a:r>
              <a:rPr lang="en-US" sz="11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三方交叉审查与质量保障
</a:t>
            </a:r>
            <a:r>
              <a:rPr lang="en-US" sz="1100" dirty="0">
                <a:solidFill>
                  <a:srgbClr val="F9C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 </a:t>
            </a:r>
            <a:r>
              <a:rPr lang="en-US" sz="1100" dirty="0">
                <a:solidFill>
                  <a:srgbClr val="E2E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展示材料与Demo制作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5486400"/>
            <a:ext cx="10698480" cy="640080"/>
          </a:xfrm>
          <a:prstGeom prst="roundRect">
            <a:avLst>
              <a:gd name="adj" fmla="val 8571"/>
            </a:avLst>
          </a:prstGeom>
          <a:solidFill>
            <a:srgbClr val="0E1528"/>
          </a:solidFill>
        </p:spPr>
      </p:sp>
      <p:sp>
        <p:nvSpPr>
          <p:cNvPr id="13" name="Text 11"/>
          <p:cNvSpPr/>
          <p:nvPr/>
        </p:nvSpPr>
        <p:spPr>
          <a:xfrm>
            <a:off x="731520" y="5532120"/>
            <a:ext cx="10698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C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 AI 把物流专员从重复劳动中解放出来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6217920"/>
            <a:ext cx="10698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2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袁愉隆 · 398972093@qq.com  |  舱路雷达 · OPC赛道二 ·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259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9</a:t>
            </a:r>
            <a:endParaRPr lang="en-US" sz="1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12.45,&quot;left&quot;:525.6,&quot;top&quot;:75.6,&quot;width&quot;:531.5}"/>
</p:tagLst>
</file>

<file path=ppt/tags/tag2.xml><?xml version="1.0" encoding="utf-8"?>
<p:tagLst xmlns:p="http://schemas.openxmlformats.org/presentationml/2006/main">
  <p:tag name="KSO_WM_DIAGRAM_VIRTUALLY_FRAME" val="{&quot;height&quot;:412.45,&quot;left&quot;:525.6,&quot;top&quot;:75.6,&quot;width&quot;:531.5}"/>
</p:tagLst>
</file>

<file path=ppt/tags/tag3.xml><?xml version="1.0" encoding="utf-8"?>
<p:tagLst xmlns:p="http://schemas.openxmlformats.org/presentationml/2006/main">
  <p:tag name="KSO_WM_DIAGRAM_VIRTUALLY_FRAME" val="{&quot;height&quot;:412.45,&quot;left&quot;:525.6,&quot;top&quot;:75.6,&quot;width&quot;:531.5}"/>
</p:tagLst>
</file>

<file path=ppt/tags/tag4.xml><?xml version="1.0" encoding="utf-8"?>
<p:tagLst xmlns:p="http://schemas.openxmlformats.org/presentationml/2006/main">
  <p:tag name="KSO_WM_DIAGRAM_VIRTUALLY_FRAME" val="{&quot;height&quot;:412.45,&quot;left&quot;:525.6,&quot;top&quot;:75.6,&quot;width&quot;:531.5}"/>
</p:tagLst>
</file>

<file path=ppt/tags/tag5.xml><?xml version="1.0" encoding="utf-8"?>
<p:tagLst xmlns:p="http://schemas.openxmlformats.org/presentationml/2006/main">
  <p:tag name="KSO_WM_DIAGRAM_VIRTUALLY_FRAME" val="{&quot;height&quot;:412.45,&quot;left&quot;:525.6,&quot;top&quot;:75.6,&quot;width&quot;:531.5}"/>
</p:tagLst>
</file>

<file path=ppt/tags/tag6.xml><?xml version="1.0" encoding="utf-8"?>
<p:tagLst xmlns:p="http://schemas.openxmlformats.org/presentationml/2006/main">
  <p:tag name="KSO_WM_DIAGRAM_VIRTUALLY_FRAME" val="{&quot;height&quot;:412.45,&quot;left&quot;:525.6,&quot;top&quot;:75.6,&quot;width&quot;:531.5}"/>
</p:tagLst>
</file>

<file path=ppt/tags/tag7.xml><?xml version="1.0" encoding="utf-8"?>
<p:tagLst xmlns:p="http://schemas.openxmlformats.org/presentationml/2006/main">
  <p:tag name="KSO_WM_DIAGRAM_VIRTUALLY_FRAME" val="{&quot;height&quot;:412.45,&quot;left&quot;:525.6,&quot;top&quot;:75.6,&quot;width&quot;:531.5}"/>
</p:tagLst>
</file>

<file path=ppt/tags/tag8.xml><?xml version="1.0" encoding="utf-8"?>
<p:tagLst xmlns:p="http://schemas.openxmlformats.org/presentationml/2006/main">
  <p:tag name="KSO_WM_DIAGRAM_VIRTUALLY_FRAME" val="{&quot;height&quot;:412.45,&quot;left&quot;:525.6,&quot;top&quot;:75.6,&quot;width&quot;:531.5}"/>
</p:tagLst>
</file>

<file path=ppt/tags/tag9.xml><?xml version="1.0" encoding="utf-8"?>
<p:tagLst xmlns:p="http://schemas.openxmlformats.org/presentationml/2006/main">
  <p:tag name="KSO_WM_DIAGRAM_VIRTUALLY_FRAME" val="{&quot;height&quot;:412.45,&quot;left&quot;:525.6,&quot;top&quot;:75.6,&quot;width&quot;:531.5}"/>
</p:tagLst>
</file>

<file path=ppt/tags/tag10.xml><?xml version="1.0" encoding="utf-8"?>
<p:tagLst xmlns:p="http://schemas.openxmlformats.org/presentationml/2006/main">
  <p:tag name="KSO_WM_DIAGRAM_VIRTUALLY_FRAME" val="{&quot;height&quot;:412.45,&quot;left&quot;:525.6,&quot;top&quot;:75.6,&quot;width&quot;:531.5}"/>
</p:tagLst>
</file>

<file path=ppt/tags/tag11.xml><?xml version="1.0" encoding="utf-8"?>
<p:tagLst xmlns:p="http://schemas.openxmlformats.org/presentationml/2006/main">
  <p:tag name="KSO_WM_DIAGRAM_VIRTUALLY_FRAME" val="{&quot;height&quot;:412.45,&quot;left&quot;:525.6,&quot;top&quot;:75.6,&quot;width&quot;:531.5}"/>
</p:tagLst>
</file>

<file path=ppt/tags/tag12.xml><?xml version="1.0" encoding="utf-8"?>
<p:tagLst xmlns:p="http://schemas.openxmlformats.org/presentationml/2006/main">
  <p:tag name="KSO_WM_DIAGRAM_VIRTUALLY_FRAME" val="{&quot;height&quot;:412.45,&quot;left&quot;:525.6,&quot;top&quot;:75.6,&quot;width&quot;:531.5}"/>
</p:tagLst>
</file>

<file path=ppt/tags/tag13.xml><?xml version="1.0" encoding="utf-8"?>
<p:tagLst xmlns:p="http://schemas.openxmlformats.org/presentationml/2006/main">
  <p:tag name="KSO_WM_DIAGRAM_VIRTUALLY_FRAME" val="{&quot;height&quot;:412.45,&quot;left&quot;:525.6,&quot;top&quot;:75.6,&quot;width&quot;:531.5}"/>
</p:tagLst>
</file>

<file path=ppt/tags/tag14.xml><?xml version="1.0" encoding="utf-8"?>
<p:tagLst xmlns:p="http://schemas.openxmlformats.org/presentationml/2006/main">
  <p:tag name="KSO_WM_DIAGRAM_VIRTUALLY_FRAME" val="{&quot;height&quot;:412.45,&quot;left&quot;:525.6,&quot;top&quot;:75.6,&quot;width&quot;:531.5}"/>
</p:tagLst>
</file>

<file path=ppt/tags/tag15.xml><?xml version="1.0" encoding="utf-8"?>
<p:tagLst xmlns:p="http://schemas.openxmlformats.org/presentationml/2006/main">
  <p:tag name="KSO_WM_DIAGRAM_VIRTUALLY_FRAME" val="{&quot;height&quot;:412.45,&quot;left&quot;:525.6,&quot;top&quot;:75.6,&quot;width&quot;:531.5}"/>
</p:tagLst>
</file>

<file path=ppt/tags/tag16.xml><?xml version="1.0" encoding="utf-8"?>
<p:tagLst xmlns:p="http://schemas.openxmlformats.org/presentationml/2006/main">
  <p:tag name="KSO_WM_DIAGRAM_VIRTUALLY_FRAME" val="{&quot;height&quot;:412.45,&quot;left&quot;:525.6,&quot;top&quot;:75.6,&quot;width&quot;:531.5}"/>
</p:tagLst>
</file>

<file path=ppt/tags/tag17.xml><?xml version="1.0" encoding="utf-8"?>
<p:tagLst xmlns:p="http://schemas.openxmlformats.org/presentationml/2006/main">
  <p:tag name="KSO_WM_DIAGRAM_VIRTUALLY_FRAME" val="{&quot;height&quot;:412.45,&quot;left&quot;:525.6,&quot;top&quot;:75.6,&quot;width&quot;:531.5}"/>
</p:tagLst>
</file>

<file path=ppt/tags/tag18.xml><?xml version="1.0" encoding="utf-8"?>
<p:tagLst xmlns:p="http://schemas.openxmlformats.org/presentationml/2006/main">
  <p:tag name="KSO_WM_DIAGRAM_VIRTUALLY_FRAME" val="{&quot;height&quot;:412.45,&quot;left&quot;:525.6,&quot;top&quot;:75.6,&quot;width&quot;:531.5}"/>
</p:tagLst>
</file>

<file path=ppt/tags/tag19.xml><?xml version="1.0" encoding="utf-8"?>
<p:tagLst xmlns:p="http://schemas.openxmlformats.org/presentationml/2006/main">
  <p:tag name="KSO_WM_DIAGRAM_VIRTUALLY_FRAME" val="{&quot;height&quot;:412.45,&quot;left&quot;:525.6,&quot;top&quot;:75.6,&quot;width&quot;:531.5}"/>
</p:tagLst>
</file>

<file path=ppt/tags/tag20.xml><?xml version="1.0" encoding="utf-8"?>
<p:tagLst xmlns:p="http://schemas.openxmlformats.org/presentationml/2006/main">
  <p:tag name="KSO_WM_DIAGRAM_VIRTUALLY_FRAME" val="{&quot;height&quot;:412.45,&quot;left&quot;:525.6,&quot;top&quot;:75.6,&quot;width&quot;:531.5}"/>
</p:tagLst>
</file>

<file path=ppt/tags/tag21.xml><?xml version="1.0" encoding="utf-8"?>
<p:tagLst xmlns:p="http://schemas.openxmlformats.org/presentationml/2006/main">
  <p:tag name="KSO_WM_DIAGRAM_VIRTUALLY_FRAME" val="{&quot;height&quot;:412.45,&quot;left&quot;:525.6,&quot;top&quot;:75.6,&quot;width&quot;:531.5}"/>
</p:tagLst>
</file>

<file path=ppt/tags/tag22.xml><?xml version="1.0" encoding="utf-8"?>
<p:tagLst xmlns:p="http://schemas.openxmlformats.org/presentationml/2006/main">
  <p:tag name="KSO_WM_DIAGRAM_VIRTUALLY_FRAME" val="{&quot;height&quot;:412.45,&quot;left&quot;:525.6,&quot;top&quot;:75.6,&quot;width&quot;:531.5}"/>
</p:tagLst>
</file>

<file path=ppt/tags/tag23.xml><?xml version="1.0" encoding="utf-8"?>
<p:tagLst xmlns:p="http://schemas.openxmlformats.org/presentationml/2006/main">
  <p:tag name="KSO_WM_DIAGRAM_VIRTUALLY_FRAME" val="{&quot;height&quot;:412.45,&quot;left&quot;:525.6,&quot;top&quot;:75.6,&quot;width&quot;:531.5}"/>
</p:tagLst>
</file>

<file path=ppt/tags/tag24.xml><?xml version="1.0" encoding="utf-8"?>
<p:tagLst xmlns:p="http://schemas.openxmlformats.org/presentationml/2006/main">
  <p:tag name="KSO_WM_DIAGRAM_VIRTUALLY_FRAME" val="{&quot;height&quot;:412.45,&quot;left&quot;:525.6,&quot;top&quot;:75.6,&quot;width&quot;:531.5}"/>
</p:tagLst>
</file>

<file path=ppt/tags/tag25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3080</Words>
  <Application>WPS 演示</Application>
  <PresentationFormat>On-screen Show (16:9)</PresentationFormat>
  <Paragraphs>466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Apple Color Emoji</vt:lpstr>
      <vt:lpstr>Calibri</vt:lpstr>
      <vt:lpstr>Helvetica Neue</vt:lpstr>
      <vt:lpstr>宋体</vt:lpstr>
      <vt:lpstr>Arial Unicode MS</vt:lpstr>
      <vt:lpstr>等线</vt:lpstr>
      <vt:lpstr>汉仪中等线KW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袁愉隆</cp:lastModifiedBy>
  <cp:revision>2</cp:revision>
  <dcterms:created xsi:type="dcterms:W3CDTF">2026-07-02T15:51:09Z</dcterms:created>
  <dcterms:modified xsi:type="dcterms:W3CDTF">2026-07-02T15:51:09Z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90569DFDD492749EED88466AE8918276_42</vt:lpwstr>
  </property>
</Properties>
</file>